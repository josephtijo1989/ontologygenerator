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br/>
            <a:r>
              <a:t>OntoForge</a:t>
            </a:r>
          </a:p>
          <a:p>
            <a:pPr algn="ctr">
              <a:defRPr sz="1800" b="1">
                <a:solidFill>
                  <a:srgbClr val="F8FAFC"/>
                </a:solidFill>
              </a:defRPr>
            </a:pPr>
            <a:r>
              <a:t>Enterprise Knowledge Graph &amp; Automated Ontology Generation Engine</a:t>
            </a:r>
            <a:br/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Transforming raw enterprise databases and unstructured text into W3C-compliant OWL/RDF Ontologies and live Neo4j Knowledge Graphs with Gemini AI Integration.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Enterprise Data Challenge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Siloed Schemas &amp; Manual Ontology Construction Cost Organizations Millions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02/08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21826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📁 80%+ Siloed Data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Relational databases, CSVs, and PDFs lack explicit semantic topology, blocking graph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12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⏳ 6-Month Manual Effort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Traditional W3C ontology modeling requires dedicated domain engineers and expensive manual labor.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⚠️ RAG Hallucinations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Enterprise LLMs produce hallucinations and broken queries without deterministic graph grounding.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End-to-End Solution Architecture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Automated 4-Step Pipeline from Data Ingestion to Neo4j Graph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03/08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320040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Data Ingestion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SQL DBs, CSVs, Raw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468880" cy="320040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2. Auto-Extraction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OWL/RDF Class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286000"/>
            <a:ext cx="2468880" cy="3200400"/>
          </a:xfrm>
          <a:prstGeom prst="roundRect">
            <a:avLst/>
          </a:prstGeom>
          <a:solidFill>
            <a:srgbClr val="12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3. Refine &amp; Govern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Cascading Class Deletion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286000"/>
            <a:ext cx="2468880" cy="3200400"/>
          </a:xfrm>
          <a:prstGeom prst="roundRect">
            <a:avLst/>
          </a:prstGeom>
          <a:solidFill>
            <a:srgbClr val="1218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 Graph &amp; AI Sync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Neo4j Cypher &amp;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Application Showcase: Class Matrix Dashboard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Interactive Workspace for Viewing and Editing Ontology Classes &amp; Attributes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04/08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🖥️ ONTOFORGE CLASS MATRIX DASHBOARD (Angular 19 &amp; FastAPI UI)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Visual Class Cards: Displays active ontology classes (e.g. Device, TemperatureSensor, Location).</a:t>
            </a:r>
            <a:br/>
            <a:r>
              <a:t>• Attribute Inspector: Real-time management of properties (id: string, temperature: float, status: string).</a:t>
            </a:r>
            <a:br/>
            <a:r>
              <a:t>• Direct Action Controls: 1-Click '🗑️ Delete Class' button with instant backend validation.</a:t>
            </a:r>
            <a:br/>
            <a:r>
              <a:t>• Graph Status Telemetry: Real-time connectivity indicator with target Neo4j instance.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Application Showcase: Smart Schema Governance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Cascading Class Deletion with Automatic Subclass Rebinding to owl:Thing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05/08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🛡️ CASCADING DEPENDENCY PROTECTION &amp; REBINDING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1. Class Deletion Trigger: User clicks '🗑️ Delete Class' on target class 'Device'.</a:t>
            </a:r>
            <a:br/>
            <a:r>
              <a:t>2. Subclass Rebinding: Subclasses (e.g. TemperatureSensor) are automatically rebound to owl:Thing.</a:t>
            </a:r>
            <a:br/>
            <a:r>
              <a:t>3. Foreign Key Cleanup: Associated TargetGraphNode foreign keys &amp; OntologyAttributes are safely purged.</a:t>
            </a:r>
            <a:br/>
            <a:r>
              <a:t>4. Zero Downstream Failure: Prevents graph corruption or broken query dependencies across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Application Showcase: Gemini AI GraphRAG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Converting Natural Language Prompts into Deterministic Cypher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06/08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🤖 GEMINI AI GRAPH INSIGHTS ENGINE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💬 User Prompt: 'Find all active temperature sensors reporting readings above 85 degrees.'</a:t>
            </a:r>
            <a:br/>
            <a:br/>
            <a:r>
              <a:t>⚡ Generated Cypher Query:</a:t>
            </a:r>
            <a:br/>
            <a:r>
              <a:t>   MATCH (s:TemperatureSensor)-[:LOCATED_IN]-&gt;(l:Location)</a:t>
            </a:r>
            <a:br/>
            <a:r>
              <a:t>   WHERE s.temperature &gt; 85.0</a:t>
            </a:r>
            <a:br/>
            <a:r>
              <a:t>   RETURN s.id AS SensorID, s.temperature AS TempValue, l.facilityName AS Facility</a:t>
            </a:r>
            <a:br/>
            <a:br/>
            <a:r>
              <a:t>✔ Live Graph Response: Grounded in Neo4j live database records with zero hallucinations.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Enterprise Business Impact &amp; ROI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Quantifiable Time Savings, W3C Standards Compliance &amp; Zero Schema Breakage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07/08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br/>
            <a:r>
              <a:t>10x</a:t>
            </a:r>
          </a:p>
          <a:p>
            <a:br/>
            <a:pPr algn="ctr">
              <a:defRPr sz="1300" b="1">
                <a:solidFill>
                  <a:srgbClr val="F8FAFC"/>
                </a:solidFill>
              </a:defRPr>
            </a:pPr>
            <a:r>
              <a:t>Faster Ontology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194560"/>
            <a:ext cx="246888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br/>
            <a:r>
              <a:t>100%</a:t>
            </a:r>
          </a:p>
          <a:p>
            <a:br/>
            <a:pPr algn="ctr">
              <a:defRPr sz="1300" b="1">
                <a:solidFill>
                  <a:srgbClr val="F8FAFC"/>
                </a:solidFill>
              </a:defRPr>
            </a:pPr>
            <a:r>
              <a:t>W3C OWL/RDF 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194560"/>
            <a:ext cx="246888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8B5CF6"/>
                </a:solidFill>
              </a:defRPr>
            </a:pPr>
            <a:br/>
            <a:r>
              <a:t>0%</a:t>
            </a:r>
          </a:p>
          <a:p>
            <a:br/>
            <a:pPr algn="ctr">
              <a:defRPr sz="1300" b="1">
                <a:solidFill>
                  <a:srgbClr val="F8FAFC"/>
                </a:solidFill>
              </a:defRPr>
            </a:pPr>
            <a:r>
              <a:t>Broken Query 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194560"/>
            <a:ext cx="246888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br/>
            <a:r>
              <a:t>100%</a:t>
            </a:r>
          </a:p>
          <a:p>
            <a:br/>
            <a:pPr algn="ctr">
              <a:defRPr sz="1300" b="1">
                <a:solidFill>
                  <a:srgbClr val="F8FAFC"/>
                </a:solidFill>
              </a:defRPr>
            </a:pPr>
            <a:r>
              <a:t>Deterministic GraphRAG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Enterprise Deployment &amp; Next Steps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Flexible Architecture Ready for Private Cloud and Microservices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914400" cy="36576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08/08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48495" cy="4114800"/>
          </a:xfrm>
          <a:prstGeom prst="roundRect">
            <a:avLst/>
          </a:prstGeom>
          <a:solidFill>
            <a:srgbClr val="1218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br/>
            <a:r>
              <a:t>🚀 FLEXIBLE DEPLOYMENT OPTIONS</a:t>
            </a:r>
          </a:p>
          <a:p>
            <a:br/>
            <a:pPr algn="l">
              <a:defRPr sz="1400">
                <a:solidFill>
                  <a:srgbClr val="F8FAFC"/>
                </a:solidFill>
              </a:defRPr>
            </a:pPr>
            <a:r>
              <a:t>• On-Premises &amp; Private Cloud: Single-command Docker container deployment.</a:t>
            </a:r>
            <a:br/>
            <a:r>
              <a:t>• Microservices Architecture: FastAPI REST API layer ready for enterprise API Gateway integration.</a:t>
            </a:r>
            <a:br/>
            <a:r>
              <a:t>• Dual Frontend Interface: Angular 19 Reactive Dashboard + Lightweight FastAPI Static Web App.</a:t>
            </a:r>
            <a:br/>
            <a:r>
              <a:t>• GitHub Repository: https://github.com/josephtijo1989/OntologyGenerator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