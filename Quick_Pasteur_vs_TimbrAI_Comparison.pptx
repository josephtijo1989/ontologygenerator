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4114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⚡ ENTERPRISE PLATFORM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  <a:latin typeface="Segoe UI"/>
              </a:defRPr>
            </a:pPr>
            <a:r>
              <a:t>Quick-Pasteur Enterprise vs. Timbr.AI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  <a:latin typeface="Segoe UI"/>
              </a:defRPr>
            </a:pPr>
            <a:r>
              <a:t>Architectural Analysis, Feature Comparison, &amp; Strategic Trade-offs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62895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</a:pPr>
            <a:r>
              <a:rPr b="1" sz="1300">
                <a:solidFill>
                  <a:srgbClr val="0284C7"/>
                </a:solidFill>
                <a:latin typeface="Segoe UI"/>
              </a:rPr>
              <a:t>•  Physical Materialization vs. Virtual SQL Fabric: </a:t>
            </a:r>
            <a:r>
              <a:rPr sz="1300">
                <a:solidFill>
                  <a:srgbClr val="CBD5E1"/>
                </a:solidFill>
                <a:latin typeface="Segoe UI"/>
              </a:rPr>
              <a:t>Comparing complete W3C OWL graph transformation against zero-copy in-warehouse semantic virtualization.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284C7"/>
                </a:solidFill>
                <a:latin typeface="Segoe UI"/>
              </a:rPr>
              <a:t>•  Performance &amp; Traversal Dynamics: </a:t>
            </a:r>
            <a:r>
              <a:rPr sz="1300">
                <a:solidFill>
                  <a:srgbClr val="CBD5E1"/>
                </a:solidFill>
                <a:latin typeface="Segoe UI"/>
              </a:rPr>
              <a:t>Evaluating microsecond graph algorithm execution vs. warehouse SQL JOIN scan efficiency.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284C7"/>
                </a:solidFill>
                <a:latin typeface="Segoe UI"/>
              </a:rPr>
              <a:t>•  Strategic Decision Matrix: </a:t>
            </a:r>
            <a:r>
              <a:rPr sz="1300">
                <a:solidFill>
                  <a:srgbClr val="CBD5E1"/>
                </a:solidFill>
                <a:latin typeface="Segoe UI"/>
              </a:rPr>
              <a:t>Determining optimal enterprise deployment scenarios for Master Data, GraphRAG, and BI reporting.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QUICK-PASTEUR VS TIMBR.AI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Executive Summary: Paradigm &amp; Architectural Contrast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Quick-Pasteur Enterprise (OntoForge)</a:t>
            </a:r>
          </a:p>
          <a:p>
            <a:pPr>
              <a:spcAft>
                <a:spcPts val="160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Physical Relational-to-Graph &amp; W3C OWL Engine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Core Paradigm: </a:t>
            </a:r>
            <a:r>
              <a:rPr sz="1200">
                <a:solidFill>
                  <a:srgbClr val="64748B"/>
                </a:solidFill>
              </a:rPr>
              <a:t>Extracts relational records and physically transforms them into target Property Knowledge Graphs.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Standardization: </a:t>
            </a:r>
            <a:r>
              <a:rPr sz="1200">
                <a:solidFill>
                  <a:srgbClr val="64748B"/>
                </a:solidFill>
              </a:rPr>
              <a:t>Full W3C OWL 2.0 ontology engine (`owl:Class`, `owl:ObjectProperty`, Turtle `.ttl`, OWL/XML `.owl`).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Target Stores: </a:t>
            </a:r>
            <a:r>
              <a:rPr sz="1200">
                <a:solidFill>
                  <a:srgbClr val="64748B"/>
                </a:solidFill>
              </a:rPr>
              <a:t>Direct physical sync to Neo4j, Memgraph, Apache AGE, and AWS Neptune.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Execution Engine: </a:t>
            </a:r>
            <a:r>
              <a:rPr sz="1200">
                <a:solidFill>
                  <a:srgbClr val="64748B"/>
                </a:solidFill>
              </a:rPr>
              <a:t>6-stage execution pipeline stepper (Extraction ➔ Ontology ➔ Validation ➔ Nodes ➔ Edges ➔ Commit).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Unique Value: </a:t>
            </a:r>
            <a:r>
              <a:rPr sz="1200">
                <a:solidFill>
                  <a:srgbClr val="64748B"/>
                </a:solidFill>
              </a:rPr>
              <a:t>Ultra-low latency recursive graph traversals, native graph algorithms (PageRank, Louvain), offline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0D9488"/>
                </a:solidFill>
                <a:latin typeface="Segoe UI"/>
              </a:defRPr>
            </a:pPr>
            <a:r>
              <a:t>Timbr.AI Semantic Platform</a:t>
            </a:r>
          </a:p>
          <a:p>
            <a:pPr>
              <a:spcAft>
                <a:spcPts val="160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Virtual SQL Knowledge Graph &amp; Semantic Data Fabric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Core Paradigm: </a:t>
            </a:r>
            <a:r>
              <a:rPr sz="1200">
                <a:solidFill>
                  <a:srgbClr val="64748B"/>
                </a:solidFill>
              </a:rPr>
              <a:t>Zero-copy virtual abstraction layer mapped directly onto cloud data warehouses.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Standardization: </a:t>
            </a:r>
            <a:r>
              <a:rPr sz="1200">
                <a:solidFill>
                  <a:srgbClr val="64748B"/>
                </a:solidFill>
              </a:rPr>
              <a:t>SQL-native ontology definitions exposing virtual graph concepts via standard SQL views.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Target Stores: </a:t>
            </a:r>
            <a:r>
              <a:rPr sz="1200">
                <a:solidFill>
                  <a:srgbClr val="64748B"/>
                </a:solidFill>
              </a:rPr>
              <a:t>Runs inside existing warehouses (Snowflake, BigQuery, Databricks, PostgreSQL).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Execution Engine: </a:t>
            </a:r>
            <a:r>
              <a:rPr sz="1200">
                <a:solidFill>
                  <a:srgbClr val="64748B"/>
                </a:solidFill>
              </a:rPr>
              <a:t>Dynamic SQL query rewrite engine translating graph queries into target SQL dialects.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Unique Value: </a:t>
            </a:r>
            <a:r>
              <a:rPr sz="1200">
                <a:solidFill>
                  <a:srgbClr val="64748B"/>
                </a:solidFill>
              </a:rPr>
              <a:t>Zero ETL maintenance, zero data duplication, instant BI tool compatibility (Power BI, Tableau).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QUICK-PASTEUR VS TIMBR.AI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Quick-Pasteur Enterprise: Core Modular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1. Discovery &amp; Profiling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Automated schema inspection across PostgreSQL, MS SQL, Oracle, MySQL, SQLite.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Built-in PII detection engine (Email, SSN, Phone, Credit Card, Name).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Data quality scoring &amp; column stat profiling before ontology mapping.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7C3AED"/>
                </a:solidFill>
                <a:latin typeface="Segoe UI"/>
              </a:defRPr>
            </a:pPr>
            <a:r>
              <a:t>2. W3C OWL 2.0 Engine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Formal ontology modeling (`owl:Class`, `rdfs:subClassOf`, `owl:ObjectProperty`).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Plain-English business rules engine tagging entities and attributes.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One-click export to W3C Turtle (`.ttl`) and OWL/XML (`.owl`).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3. Pipeline Stepper Engine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Automated extraction of relational database records.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6-stage pipeline stepper (Extraction ➔ Ontology ➔ Validation ➔ Nodes ➔ Edges ➔ Commit).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Real-time terminal execution logging &amp; duration metrics audit trail.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284C7"/>
                </a:solidFill>
                <a:latin typeface="Segoe UI"/>
              </a:defRPr>
            </a:pPr>
            <a:r>
              <a:t>4. Graph Sync &amp; AI Insights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Target Graph DB sync for Neo4j, Memgraph, Apache AGE, and AWS Neptune.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Lineage visualization with CoSE force-directed layout (`.cypher` &amp; `.graphml`).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AI Cypher query synthesizer &amp; Approved Few-Shot Query Repository.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QUICK-PASTEUR VS TIMBR.AI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Timbr.AI: Virtual Architecture &amp; Zero-ETL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1. Virtual Semantic Modeling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Maps business concepts and relationships directly to SQL database tables.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Concept inheritance and relationship definitions without changing physical schemas.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Centralized data modeling interface accessible via standard 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D97706"/>
                </a:solidFill>
                <a:latin typeface="Segoe UI"/>
              </a:defRPr>
            </a:pPr>
            <a:r>
              <a:t>2. SQL Query Rewrite Engine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Intercepts incoming graph SQL queries and rewrites them into target warehouse SQL.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Eliminates manual `JOIN` and `UNION` complexity for data consumers.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Optimizes queries using underlying warehouse query planners.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284C7"/>
                </a:solidFill>
                <a:latin typeface="Segoe UI"/>
              </a:defRPr>
            </a:pPr>
            <a:r>
              <a:t>3. In-Database Virtual Execution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No data movement — data stays in Snowflake, BigQuery, Databricks, or Postgres.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Zero storage overhead; no secondary graph database hardware required.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Real-time query execution reflects live source warehouse changes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4. Universal BI &amp; LLM Integration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Exposes virtual graphs via standard JDBC/ODBC endpoints.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Seamless connection to Power BI, Tableau, Looker, and Python notebooks.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• GraphRAG contextual grounding for LLM agents using governed business definitions.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QUICK-PASTEUR VS TIMBR.AI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Architectural Comparison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Dimension / 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Quick-Pasteur Enterprise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Timbr.AI Semantic 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Architecture Paradigm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Physical Materialization (ETL Pipeline)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Virtual Semantic Layer (Zero-ETL)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Data Placement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Target Physical Graph DB (Neo4j, Neptune)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Stays in Source DW (Snowflake, BigQuery)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Primary Query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Cypher, SPARQL, GraphML, W3C OWL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Standard SQL via JDBC / ODBC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Deep Traversal Performance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Microsecond speed via index-free adjacency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SQL JOIN scan latency bound to warehouse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Data Freshness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Pipeline Sync Latency (Scheduled/Triggered)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Instant Real-Time (Live warehouse state)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Ontology Standards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Native W3C OWL 2.0 (Turtle .ttl / OWL XML)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D9488"/>
                          </a:solidFill>
                          <a:latin typeface="Segoe UI"/>
                        </a:defRPr>
                      </a:pPr>
                      <a:r>
                        <a:t>Proprietary SQL-based Ontology Mapping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QUICK-PASTEUR VS TIMBR.AI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Quick-Pasteur: Key Capabilities &amp; Core Strengths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W3C OWL 2.0 Compliance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Formal Semantic Web standard compatibility.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Direct Turtle (.ttl) &amp; OWL/XML exports for enterprise registries.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Subclass taxonomies &amp; strict object/datatype property mapping.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7C3AED"/>
                </a:solidFill>
                <a:latin typeface="Segoe UI"/>
              </a:defRPr>
            </a:pPr>
            <a:r>
              <a:t>Physical Graph Performance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Native graph database target sync (Neo4j, Memgraph, Neptune).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Index-free adjacency enables microsecond multi-hop traversals.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High performance for Graph Neural Networks &amp; pathfinding.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Automated Data Profiling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Pre-transformation data quality scoring &amp; anomaly check.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Automated PII identification (SSN, Credit Card, Email, Phone).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Primary key &amp; Foreign key propagation across ontology layers.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284C7"/>
                </a:solidFill>
                <a:latin typeface="Segoe UI"/>
              </a:defRPr>
            </a:pPr>
            <a:r>
              <a:t>AI Insight &amp; Approved Cypher Repo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Natural language to Cypher synthesis engine.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Approved Few-Shot Cypher repository for precise query execution.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Dynamic prompt pills based on project OWL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QUICK-PASTEUR VS TIMBR.AI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Timbr.AI: Key Capabilities &amp; Core Strengths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Zero Data Movement (Zero-ETL)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Eliminates complex ETL pipeline engineering and maintenance.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Zero data duplication; no storage footprint overhead.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Maintains central data warehouse security and governance policies.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D97706"/>
                </a:solidFill>
                <a:latin typeface="Segoe UI"/>
              </a:defRPr>
            </a:pPr>
            <a:r>
              <a:t>Native SQL Interface &amp; BI Plug-in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Queries written in standard SQL; no Cypher/SPARQL required.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Seamless connection to Power BI, Tableau, Looker via JDBC/ODBC.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Empowers traditional SQL analysts and business users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284C7"/>
                </a:solidFill>
                <a:latin typeface="Segoe UI"/>
              </a:defRPr>
            </a:pPr>
            <a:r>
              <a:t>Real-Time Data Freshness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Queries execute against live source tables inside the warehouse.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Immediate reflection of data updates without sync pipeline lag.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Ideal for operational dashboards requiring fresh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GraphRAG for LLM Grounding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Provides semantic context views to LLM agents and RAG systems.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Standardizes business logic (e.g. 'Active Customer') across prompts.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E293B"/>
                </a:solidFill>
                <a:latin typeface="Segoe UI"/>
              </a:rPr>
              <a:t>✔ Reduces LLM hallucinations by mapping SQL entities accurately.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QUICK-PASTEUR VS TIMBR.AI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Advantages of Quick-Pasteur over Timbr.AI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  <a:latin typeface="Segoe UI"/>
              </a:defRPr>
            </a:pPr>
            <a:r>
              <a:t>1. Superior Deep Graph Performance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Quick-Pasteur materializes data into native Graph DBs (Neo4j, Memgraph). Index-free adjacency allows 5-10+ hop recursive traversals in milliseconds, whereas Timbr's SQL translation generates heavy warehouse JOINs that slow down at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Segoe UI"/>
              </a:defRPr>
            </a:pPr>
            <a:r>
              <a:t>2. W3C OWL 2.0 Open Standard Interoperability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Exports clean W3C Turtle (.ttl) and OWL/XML (.owl) files compatible with Protege, TopBraid, and enterprise RDF stores. Timbr uses a proprietary SQL-based ontology format that creates vendor lock-in.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Segoe UI"/>
              </a:defRPr>
            </a:pPr>
            <a:r>
              <a:t>3. Built-in Data Quality &amp; PII Governance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Includes native data profiling, quality scoring, and automatic PII detection (SSN, CC, Email) before graph creation. Timbr relies on underlying data warehouses for data cleaning and PII tagging.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4. Air-Gapped &amp; Self-Contained Deployment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Can be deployed entirely on-premises or air-gapped without relying on cloud data warehouse infrastructure or external SaaS control planes. Provides complete sovereignty over data and pipelines.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QUICK-PASTEUR VS TIMBR.AI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Disadvantages of Quick-Pasteur compared to Timbr.AI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E11D48"/>
                </a:solidFill>
                <a:latin typeface="Segoe UI"/>
              </a:defRPr>
            </a:pPr>
            <a:r>
              <a:t>1. Data Duplication &amp; Storage Cost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Because Quick-Pasteur extracts records into a physical graph database, data is duplicated across relational and graph storage. This increases cloud storage footprint and database licensing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D97706"/>
                </a:solidFill>
                <a:latin typeface="Segoe UI"/>
              </a:defRPr>
            </a:pPr>
            <a:r>
              <a:t>2. Pipeline Maintenance &amp; Operational Complexity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Requires building, executing, and monitoring 6-stage ETL pipelines. Pipeline failures, schema drifts, and sync errors require active data engineering maintenance compared to Timbr's zero-ETL approach.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E11D48"/>
                </a:solidFill>
                <a:latin typeface="Segoe UI"/>
              </a:defRPr>
            </a:pPr>
            <a:r>
              <a:t>3. Data Sync Latency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Graph data is only as fresh as the latest pipeline execution. Unlike Timbr's live in-warehouse execution, Quick-Pasteur introduces data latency between source updates and graph materialization.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D97706"/>
                </a:solidFill>
                <a:latin typeface="Segoe UI"/>
              </a:defRPr>
            </a:pPr>
            <a:r>
              <a:t>4. Learning Curve for Graph Query Languages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Analysts must learn Cypher or SPARQL to query target graph databases. Timbr allows business users and BI tools to query the graph using familiar, standard SQL syntax.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QUICK-PASTEUR VS TIMBR.AI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Timbr.AI: Advantages &amp; Disadvantages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PROS / ADVANTAGES OF TIMBR.AI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✔ Zero-ETL Overhead: </a:t>
            </a:r>
            <a:r>
              <a:rPr sz="1100">
                <a:solidFill>
                  <a:srgbClr val="64748B"/>
                </a:solidFill>
              </a:rPr>
              <a:t>No physical data movement or complex pipeline orchestration.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✔ Universal BI Compatibility: </a:t>
            </a:r>
            <a:r>
              <a:rPr sz="1100">
                <a:solidFill>
                  <a:srgbClr val="64748B"/>
                </a:solidFill>
              </a:rPr>
              <a:t>Exposes graph views via standard SQL (JDBC/ODBC) to Power BI/Tableau.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✔ Real-Time Data Freshness: </a:t>
            </a:r>
            <a:r>
              <a:rPr sz="1100">
                <a:solidFill>
                  <a:srgbClr val="64748B"/>
                </a:solidFill>
              </a:rPr>
              <a:t>Queries always run against live warehouse tables.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✔ Zero Storage Footprint: </a:t>
            </a:r>
            <a:r>
              <a:rPr sz="1100">
                <a:solidFill>
                  <a:srgbClr val="64748B"/>
                </a:solidFill>
              </a:rPr>
              <a:t>No extra database hardware or graph licensing required.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✔ Ease of Adoption: </a:t>
            </a:r>
            <a:r>
              <a:rPr sz="1100">
                <a:solidFill>
                  <a:srgbClr val="64748B"/>
                </a:solidFill>
              </a:rPr>
              <a:t>Leverages existing enterprise SQL skills without Cypher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E11D48"/>
                </a:solidFill>
                <a:latin typeface="Segoe UI"/>
              </a:defRPr>
            </a:pPr>
            <a:r>
              <a:t>CONS / DISADVANTAGES OF TIMBR.AI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✖ SQL Traversal Performance Bottleneck: </a:t>
            </a:r>
            <a:r>
              <a:rPr sz="1100">
                <a:solidFill>
                  <a:srgbClr val="64748B"/>
                </a:solidFill>
              </a:rPr>
              <a:t>Complex multi-hop graph queries convert to expensive SQL JOINs.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✖ High Warehouse Compute Cost: </a:t>
            </a:r>
            <a:r>
              <a:rPr sz="1100">
                <a:solidFill>
                  <a:srgbClr val="64748B"/>
                </a:solidFill>
              </a:rPr>
              <a:t>Heavy graph-style queries increase Snowflake/BigQuery query consumption charges.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✖ Lack of Native Graph Algorithms: </a:t>
            </a:r>
            <a:r>
              <a:rPr sz="1100">
                <a:solidFill>
                  <a:srgbClr val="64748B"/>
                </a:solidFill>
              </a:rPr>
              <a:t>Cannot run PageRank, community detection, or Graph Neural Networks efficiently.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✖ Proprietary Ontology Format: </a:t>
            </a:r>
            <a:r>
              <a:rPr sz="1100">
                <a:solidFill>
                  <a:srgbClr val="64748B"/>
                </a:solidFill>
              </a:rPr>
              <a:t>Does not natively export standard W3C OWL 2.0 Turtle/RDF files.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✖ Vendor &amp; Warehouse Dependency: </a:t>
            </a:r>
            <a:r>
              <a:rPr sz="1100">
                <a:solidFill>
                  <a:srgbClr val="64748B"/>
                </a:solidFill>
              </a:rPr>
              <a:t>Query execution performance is strictly bound to underlying DW capabilities.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QUICK-PASTEUR VS TIMBR.AI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Enterprise Decision Matrix &amp; Ideal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Choose Quick-Pasteur Enterprise When: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🎯 Deep Graph Traversal &amp; Analytics: </a:t>
            </a:r>
            <a:r>
              <a:rPr sz="1100">
                <a:solidFill>
                  <a:srgbClr val="64748B"/>
                </a:solidFill>
              </a:rPr>
              <a:t>Use cases requiring 5+ hop relationships, fraud detection rings, and identity resolution.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🎯 W3C Compliance Mandates: </a:t>
            </a:r>
            <a:r>
              <a:rPr sz="1100">
                <a:solidFill>
                  <a:srgbClr val="64748B"/>
                </a:solidFill>
              </a:rPr>
              <a:t>Organizations requiring strict W3C OWL 2.0 Turtle/XML standards for ontology governance.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🎯 Native Graph Database Deployments: </a:t>
            </a:r>
            <a:r>
              <a:rPr sz="1100">
                <a:solidFill>
                  <a:srgbClr val="64748B"/>
                </a:solidFill>
              </a:rPr>
              <a:t>Projects standardizing on Neo4j, Memgraph, or AWS Neptune graph stores.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🎯 Data Quality &amp; PII Sanitization: </a:t>
            </a:r>
            <a:r>
              <a:rPr sz="1100">
                <a:solidFill>
                  <a:srgbClr val="64748B"/>
                </a:solidFill>
              </a:rPr>
              <a:t>Need automated PII profiling and data quality scoring prior to knowledge graph generation.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🎯 Air-Gapped / On-Prem Operations: </a:t>
            </a:r>
            <a:r>
              <a:rPr sz="1100">
                <a:solidFill>
                  <a:srgbClr val="64748B"/>
                </a:solidFill>
              </a:rPr>
              <a:t>Environments requiring fully self-contained processing without cloud data warehouse lock-in.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Choose Timbr.AI When: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🎯 Cloud Warehouse Centric Stack: </a:t>
            </a:r>
            <a:r>
              <a:rPr sz="1100">
                <a:solidFill>
                  <a:srgbClr val="64748B"/>
                </a:solidFill>
              </a:rPr>
              <a:t>Data architecture built around Snowflake, BigQuery, or Databricks without graph DBs.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🎯 BI &amp; SQL-Centric Data Teams: </a:t>
            </a:r>
            <a:r>
              <a:rPr sz="1100">
                <a:solidFill>
                  <a:srgbClr val="64748B"/>
                </a:solidFill>
              </a:rPr>
              <a:t>Reporting requirements served via Power BI, Tableau, or Looker using standard SQL.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🎯 Zero ETL Budget &amp; Maintenance: </a:t>
            </a:r>
            <a:r>
              <a:rPr sz="1100">
                <a:solidFill>
                  <a:srgbClr val="64748B"/>
                </a:solidFill>
              </a:rPr>
              <a:t>Organizations lacking data engineering resources to maintain graph ETL pipelines.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🎯 Real-Time Operational Dashboards: </a:t>
            </a:r>
            <a:r>
              <a:rPr sz="1100">
                <a:solidFill>
                  <a:srgbClr val="64748B"/>
                </a:solidFill>
              </a:rPr>
              <a:t>Analytics requiring instant visibility into live relational database transactions.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🎯 High-Level Business Semantic Layer: </a:t>
            </a:r>
            <a:r>
              <a:rPr sz="1100">
                <a:solidFill>
                  <a:srgbClr val="64748B"/>
                </a:solidFill>
              </a:rPr>
              <a:t>Creating unified metrics catalogs (e.g. 'Customer 360') without moving underlying tables.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QUICK-PASTEUR VS TIMBR.AI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Conclusion &amp; Strategic Architecture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spcAft>
                <a:spcPts val="1400"/>
              </a:spcAft>
              <a:defRPr sz="2000" b="1">
                <a:solidFill>
                  <a:srgbClr val="0284C7"/>
                </a:solidFill>
                <a:latin typeface="Segoe UI"/>
              </a:defRPr>
            </a:pPr>
            <a:r>
              <a:t>Strategic Summary &amp; Recommendations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1F5F9"/>
                </a:solidFill>
                <a:latin typeface="Segoe UI"/>
              </a:rPr>
              <a:t>1. Distinct Enterprise Roles: </a:t>
            </a:r>
            <a:r>
              <a:rPr sz="1300">
                <a:solidFill>
                  <a:srgbClr val="CBD5E1"/>
                </a:solidFill>
                <a:latin typeface="Segoe UI"/>
              </a:rPr>
              <a:t>Quick-Pasteur Enterprise is a high-performance **Physical Graph Transformation Engine**, whereas Timbr.AI is a **Virtual Semantic Data Fabric**. They solve fundamentally different operational problems.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1F5F9"/>
                </a:solidFill>
                <a:latin typeface="Segoe UI"/>
              </a:rPr>
              <a:t>2. Performance vs. Agility Trade-off: </a:t>
            </a:r>
            <a:r>
              <a:rPr sz="1300">
                <a:solidFill>
                  <a:srgbClr val="CBD5E1"/>
                </a:solidFill>
                <a:latin typeface="Segoe UI"/>
              </a:rPr>
              <a:t>Choose Quick-Pasteur when graph traversal speed, deep pathfinding algorithms, and W3C OWL standards are critical. Choose Timbr.AI when zero-ETL agility, data warehouse virtualization, and standard SQL BI tools are paramount.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1F5F9"/>
                </a:solidFill>
                <a:latin typeface="Segoe UI"/>
              </a:rPr>
              <a:t>3. Potential Hybrid Architecture: </a:t>
            </a:r>
            <a:r>
              <a:rPr sz="1300">
                <a:solidFill>
                  <a:srgbClr val="CBD5E1"/>
                </a:solidFill>
                <a:latin typeface="Segoe UI"/>
              </a:rPr>
              <a:t>Enterprises can combine both: Use **Timbr.AI** as a virtual semantic layer for operational warehouse BI reporting, and use **Quick-Pasteur** to extract, profile, and materialize high-value subnetworks into **Neo4j** for deep graph AI &amp; network analytics.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1F5F9"/>
                </a:solidFill>
                <a:latin typeface="Segoe UI"/>
              </a:rPr>
              <a:t>4. Final Recommendation: </a:t>
            </a:r>
            <a:r>
              <a:rPr sz="1300">
                <a:solidFill>
                  <a:srgbClr val="CBD5E1"/>
                </a:solidFill>
                <a:latin typeface="Segoe UI"/>
              </a:rPr>
              <a:t>Evaluate your workload requirements: If your primary goal is Graph AI / GraphRAG with complex multi-hop Cypher queries, **Quick-Pasteur Enterprise** delivers unmatched physical graph execution and governance.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